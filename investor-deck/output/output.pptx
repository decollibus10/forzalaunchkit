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87419194f4553" /><Relationship Type="http://schemas.openxmlformats.org/officeDocument/2006/relationships/extended-properties" Target="/docProps/app.xml" Id="R5ad936131c8e4359" /><Relationship Type="http://schemas.openxmlformats.org/officeDocument/2006/relationships/officeDocument" Target="/ppt/presentation.xml" Id="R5b52a0360bba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6d5d4a3f04dc0"/>
  </p:sldMasterIdLst>
  <p:notesMasterIdLst>
    <p:notesMasterId xmlns:r="http://schemas.openxmlformats.org/officeDocument/2006/relationships" r:id="R1bcfa9797c834413"/>
  </p:notesMasterIdLst>
  <p:sldIdLst>
    <p:sldId xmlns:r="http://schemas.openxmlformats.org/officeDocument/2006/relationships" id="256" r:id="Rd4791790aad64ab6"/>
    <p:sldId xmlns:r="http://schemas.openxmlformats.org/officeDocument/2006/relationships" id="257" r:id="R8c7acf0301614a4c"/>
    <p:sldId xmlns:r="http://schemas.openxmlformats.org/officeDocument/2006/relationships" id="258" r:id="Rc914ba1e1793461a"/>
    <p:sldId xmlns:r="http://schemas.openxmlformats.org/officeDocument/2006/relationships" id="259" r:id="R3fd04772d63d4c4f"/>
    <p:sldId xmlns:r="http://schemas.openxmlformats.org/officeDocument/2006/relationships" id="260" r:id="Rf9c0b01d90bd4db2"/>
    <p:sldId xmlns:r="http://schemas.openxmlformats.org/officeDocument/2006/relationships" id="261" r:id="R056c2af5b6da4fef"/>
    <p:sldId xmlns:r="http://schemas.openxmlformats.org/officeDocument/2006/relationships" id="262" r:id="R304c1c080d9b4a7d"/>
    <p:sldId xmlns:r="http://schemas.openxmlformats.org/officeDocument/2006/relationships" id="263" r:id="R11dd2cef5ab54e97"/>
    <p:sldId xmlns:r="http://schemas.openxmlformats.org/officeDocument/2006/relationships" id="264" r:id="R150ec988fb4e4d5d"/>
    <p:sldId xmlns:r="http://schemas.openxmlformats.org/officeDocument/2006/relationships" id="265" r:id="R33b706e3d07b403d"/>
    <p:sldId xmlns:r="http://schemas.openxmlformats.org/officeDocument/2006/relationships" id="266" r:id="R8600465e6bb84da5"/>
    <p:sldId xmlns:r="http://schemas.openxmlformats.org/officeDocument/2006/relationships" id="267" r:id="R518290738c1e4ba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6d5d4a3f04dc0" /><Relationship Type="http://schemas.openxmlformats.org/officeDocument/2006/relationships/theme" Target="/ppt/theme/theme1.xml" Id="R9f31b602c5824100" /><Relationship Type="http://schemas.openxmlformats.org/officeDocument/2006/relationships/notesMaster" Target="/ppt/notesMasters/notesMaster1.xml" Id="R1bcfa9797c834413" /><Relationship Type="http://schemas.openxmlformats.org/officeDocument/2006/relationships/presProps" Target="/ppt/presProps.xml" Id="Rf14a131e50164ad4" /><Relationship Type="http://schemas.openxmlformats.org/officeDocument/2006/relationships/viewProps" Target="/ppt/viewProps.xml" Id="R8683452631764dd7" /><Relationship Type="http://schemas.openxmlformats.org/officeDocument/2006/relationships/tableStyles" Target="/ppt/tableStyles.xml" Id="Rb3702cc0a8ec4922" /><Relationship Type="http://schemas.openxmlformats.org/officeDocument/2006/relationships/slide" Target="/ppt/slides/slide1.xml" Id="Rd4791790aad64ab6" /><Relationship Type="http://schemas.openxmlformats.org/officeDocument/2006/relationships/slide" Target="/ppt/slides/slide2.xml" Id="R8c7acf0301614a4c" /><Relationship Type="http://schemas.openxmlformats.org/officeDocument/2006/relationships/slide" Target="/ppt/slides/slide3.xml" Id="Rc914ba1e1793461a" /><Relationship Type="http://schemas.openxmlformats.org/officeDocument/2006/relationships/slide" Target="/ppt/slides/slide4.xml" Id="R3fd04772d63d4c4f" /><Relationship Type="http://schemas.openxmlformats.org/officeDocument/2006/relationships/slide" Target="/ppt/slides/slide5.xml" Id="Rf9c0b01d90bd4db2" /><Relationship Type="http://schemas.openxmlformats.org/officeDocument/2006/relationships/slide" Target="/ppt/slides/slide6.xml" Id="R056c2af5b6da4fef" /><Relationship Type="http://schemas.openxmlformats.org/officeDocument/2006/relationships/slide" Target="/ppt/slides/slide7.xml" Id="R304c1c080d9b4a7d" /><Relationship Type="http://schemas.openxmlformats.org/officeDocument/2006/relationships/slide" Target="/ppt/slides/slide8.xml" Id="R11dd2cef5ab54e97" /><Relationship Type="http://schemas.openxmlformats.org/officeDocument/2006/relationships/slide" Target="/ppt/slides/slide9.xml" Id="R150ec988fb4e4d5d" /><Relationship Type="http://schemas.openxmlformats.org/officeDocument/2006/relationships/slide" Target="/ppt/slides/slide10.xml" Id="R33b706e3d07b403d" /><Relationship Type="http://schemas.openxmlformats.org/officeDocument/2006/relationships/slide" Target="/ppt/slides/slide11.xml" Id="R8600465e6bb84da5" /><Relationship Type="http://schemas.openxmlformats.org/officeDocument/2006/relationships/slide" Target="/ppt/slides/slide12.xml" Id="R518290738c1e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d49b7a5ae8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24ef4d38894075" /><Relationship Type="http://schemas.openxmlformats.org/officeDocument/2006/relationships/notesMaster" Target="/ppt/notesMasters/notesMaster1.xml" Id="Rfb633536e37c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f23857b4641eb" /><Relationship Type="http://schemas.openxmlformats.org/officeDocument/2006/relationships/notesMaster" Target="/ppt/notesMasters/notesMaster1.xml" Id="R5e17949948ff49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f7f61358c4c78" /><Relationship Type="http://schemas.openxmlformats.org/officeDocument/2006/relationships/notesMaster" Target="/ppt/notesMasters/notesMaster1.xml" Id="R47ee1349586c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916f9d4184d99" /><Relationship Type="http://schemas.openxmlformats.org/officeDocument/2006/relationships/notesMaster" Target="/ppt/notesMasters/notesMaster1.xml" Id="R1fca5055ec75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a14c339e647f8" /><Relationship Type="http://schemas.openxmlformats.org/officeDocument/2006/relationships/notesMaster" Target="/ppt/notesMasters/notesMaster1.xml" Id="R733789f5ffd6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9e192446b4028" /><Relationship Type="http://schemas.openxmlformats.org/officeDocument/2006/relationships/notesMaster" Target="/ppt/notesMasters/notesMaster1.xml" Id="Ra8f8a4d4bd8a4f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2f940d00584cd3" /><Relationship Type="http://schemas.openxmlformats.org/officeDocument/2006/relationships/notesMaster" Target="/ppt/notesMasters/notesMaster1.xml" Id="Rd748a1ab0fc44c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42d4986ac4176" /><Relationship Type="http://schemas.openxmlformats.org/officeDocument/2006/relationships/notesMaster" Target="/ppt/notesMasters/notesMaster1.xml" Id="Ra0dd912bd582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9e5aeb93494aca" /><Relationship Type="http://schemas.openxmlformats.org/officeDocument/2006/relationships/notesMaster" Target="/ppt/notesMasters/notesMaster1.xml" Id="R80dd83d6e6ff48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da7ea9d89347f3" /><Relationship Type="http://schemas.openxmlformats.org/officeDocument/2006/relationships/notesMaster" Target="/ppt/notesMasters/notesMaster1.xml" Id="Rc110df85a3f649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5c22346e924559" /><Relationship Type="http://schemas.openxmlformats.org/officeDocument/2006/relationships/notesMaster" Target="/ppt/notesMasters/notesMaster1.xml" Id="R099c7fd4658140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13102b61534d93" /><Relationship Type="http://schemas.openxmlformats.org/officeDocument/2006/relationships/notesMaster" Target="/ppt/notesMasters/notesMaster1.xml" Id="R2eb55946d84b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cad9fe17f489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37bff765da4f8b" /><Relationship Type="http://schemas.openxmlformats.org/officeDocument/2006/relationships/slideLayout" Target="/ppt/slideLayouts/slideLayout2.xml" Id="Re2ccbaf58786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cbaf58786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218b5e38449fe" /><Relationship Type="http://schemas.openxmlformats.org/officeDocument/2006/relationships/image" Target="/ppt/media/image.png" Id="R5aa5d193ab554045" /><Relationship Type="http://schemas.openxmlformats.org/officeDocument/2006/relationships/notesSlide" Target="/ppt/notesSlides/notesSlide1.xml" Id="R81ef796cc752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6f88218ac42ce" /><Relationship Type="http://schemas.openxmlformats.org/officeDocument/2006/relationships/notesSlide" Target="/ppt/notesSlides/notesSlide2.xml" Id="R2b2958c1612f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bac05b0cc41df" /><Relationship Type="http://schemas.openxmlformats.org/officeDocument/2006/relationships/chart" Target="/ppt/slides/charts/chart1.xml" Id="R05c11dd3ec4f4348" /><Relationship Type="http://schemas.openxmlformats.org/officeDocument/2006/relationships/notesSlide" Target="/ppt/notesSlides/notesSlide3.xml" Id="Rf98161c5183e4a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5d83c67685425d" /><Relationship Type="http://schemas.openxmlformats.org/officeDocument/2006/relationships/notesSlide" Target="/ppt/notesSlides/notesSlide4.xml" Id="R8f711025ed6b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bd220a33a46f0" /><Relationship Type="http://schemas.openxmlformats.org/officeDocument/2006/relationships/image" Target="/ppt/media/image2.png" Id="R28ab66c7fbec454f" /><Relationship Type="http://schemas.openxmlformats.org/officeDocument/2006/relationships/notesSlide" Target="/ppt/notesSlides/notesSlide5.xml" Id="R1c98656bd121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b892068284600" /><Relationship Type="http://schemas.openxmlformats.org/officeDocument/2006/relationships/notesSlide" Target="/ppt/notesSlides/notesSlide6.xml" Id="Re0d2abd8ff2749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592d6f6ef4a42" /><Relationship Type="http://schemas.openxmlformats.org/officeDocument/2006/relationships/image" Target="/ppt/media/image3.png" Id="R1e0dfdd0c5b146d9" /><Relationship Type="http://schemas.openxmlformats.org/officeDocument/2006/relationships/notesSlide" Target="/ppt/notesSlides/notesSlide7.xml" Id="Rfd97f6ab1a8d4f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faf5e1a444481" /><Relationship Type="http://schemas.openxmlformats.org/officeDocument/2006/relationships/notesSlide" Target="/ppt/notesSlides/notesSlide8.xml" Id="Refa65ef0f25241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03d8614a34523" /><Relationship Type="http://schemas.openxmlformats.org/officeDocument/2006/relationships/notesSlide" Target="/ppt/notesSlides/notesSlide9.xml" Id="Rea3a30b6822643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e05bcc974405f" /><Relationship Type="http://schemas.openxmlformats.org/officeDocument/2006/relationships/notesSlide" Target="/ppt/notesSlides/notesSlide10.xml" Id="Rf9a57e23ded74d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7d52ea0f045b4" /><Relationship Type="http://schemas.openxmlformats.org/officeDocument/2006/relationships/notesSlide" Target="/ppt/notesSlides/notesSlide11.xml" Id="R8cba20b3c40a4e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e2bcfbf534c90" /><Relationship Type="http://schemas.openxmlformats.org/officeDocument/2006/relationships/notesSlide" Target="/ppt/notesSlides/notesSlide12.xml" Id="Rcd02166acfb1409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Share</c:v>
          </c:tx>
          <c:cat>
            <c:strLit>
              <c:ptCount val="4"/>
              <c:pt idx="0">
                <c:v>Applied</c:v>
              </c:pt>
              <c:pt idx="1">
                <c:v>&lt;$50k</c:v>
              </c:pt>
              <c:pt idx="2">
                <c:v>OpEx</c:v>
              </c:pt>
              <c:pt idx="3">
                <c:v>None</c:v>
              </c:pt>
            </c:strLit>
          </c:cat>
          <c:val>
            <c:numLit>
              <c:formatCode/>
              <c:ptCount val="4"/>
              <c:pt idx="0">
                <c:v>59</c:v>
              </c:pt>
              <c:pt idx="1">
                <c:v>40</c:v>
              </c:pt>
              <c:pt idx="2">
                <c:v>56</c:v>
              </c:pt>
              <c:pt idx="3">
                <c:v>24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7BC9D5F-27D7-43A3-BA26-60BDBF2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C34ACBB-8356-4F31-BE28-ADF901BA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731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INVESTOR PITCH · APRIL 2026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3215AA-D8F1-4C32-B765-18C9718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5057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11C"/>
                </a:solidFill>
              </a:defRPr>
            </a:pPr>
            <a:r>
              <a:rPr sz="5700" b="1">
                <a:solidFill>
                  <a:srgbClr val="17211C"/>
                </a:solidFill>
              </a:rPr>
              <a:t>Disciplined capital for NJ businesses with real receivables.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A6304D1-ED34-44BF-A21C-E40B012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6858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9645F"/>
                </a:solidFill>
              </a:defRPr>
            </a:pPr>
            <a:r>
              <a:rPr sz="2175">
                <a:solidFill>
                  <a:srgbClr val="59645F"/>
                </a:solidFill>
              </a:rPr>
              <a:t>FORZA CAPITAL PARTNERS LLC pairs a narrow receivables-purchase launch box with a separate AI Automation Audit offer and a compliance-first operating model.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1F78FD25-499F-417B-AA08-545EEA5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087AC-A626-49D9-9844-773857DD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86600"/>
            <a:ext cx="6686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4A32"/>
                </a:solidFill>
              </a:defRPr>
            </a:pPr>
            <a:r>
              <a:rPr sz="1875" b="1">
                <a:solidFill>
                  <a:srgbClr val="0F4A32"/>
                </a:solidFill>
              </a:rPr>
              <a:t>Seeking pilot capital and strategic partners for a controlled New Jersey launch.</a:t>
            </a:r>
          </a:p>
        </p:txBody>
      </p:sp>
      <p:pic>
        <p:nvPicPr>
          <p:cNvPr id="7" name="cover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5d193ab554045"/>
          <a:srcRect xmlns:a="http://schemas.openxmlformats.org/drawingml/2006/main" l="10877" t="0" r="10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4242" y="1428750"/>
            <a:ext cx="8579358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0EC7-C2C7-4DAC-A481-925783DB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B4841-55F3-40AC-8B5B-329D80B4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27735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Prepared for investor discussions</a:t>
            </a:r>
          </a:p>
        </p:txBody>
      </p:sp>
    </p:spTree>
    <p:extLst>
      <p:ext uri="{BB962C8B-B14F-4D97-AF65-F5344CB8AC3E}">
        <p14:creationId xmlns:p14="http://schemas.microsoft.com/office/powerpoint/2010/main" val="9414372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430009-C8E8-447F-8C15-DC3DFF6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13842C1-D272-4DE3-B7C0-ADD439A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WHY NEW JERSEY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610E52-0F7B-4471-94F4-FF9FECF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A dense local SMB base, narrow enough to underwrite manually.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60D8D0E-A881-4A8A-8C17-8C65054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1563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FORZA starts where focus matters: one state, small first checks, service businesses, and controls before scale.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B09F2676-9F65-4AA6-A599-A827A84C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2197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F4A32"/>
                </a:solidFill>
              </a:defRPr>
            </a:pPr>
            <a:r>
              <a:rPr sz="6450" b="1">
                <a:solidFill>
                  <a:srgbClr val="0F4A32"/>
                </a:solidFill>
              </a:rPr>
              <a:t>979k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773784EA-28D8-4A83-8A15-C226C055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0F3DF1A2-3D8F-498B-AC4C-E36E8D27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521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small businesses in New Jersey</a:t>
            </a:r>
          </a:p>
        </p:txBody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C5DB8DD0-7CB4-4345-8561-5819697A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52197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7D5842"/>
                </a:solidFill>
              </a:defRPr>
            </a:pPr>
            <a:r>
              <a:rPr sz="6450" b="1">
                <a:solidFill>
                  <a:srgbClr val="7D5842"/>
                </a:solidFill>
              </a:rPr>
              <a:t>99.6%</a:t>
            </a:r>
          </a:p>
        </p:txBody>
      </p:sp>
      <p:sp>
        <p:nvSpPr>
          <p:cNvPr id="9" name="stat-rule">
            <a:extLst xmlns:a="http://schemas.openxmlformats.org/drawingml/2006/main">
              <a:ext uri="{FF2B5EF4-FFF2-40B4-BE49-F238E27FC236}">
                <a16:creationId xmlns:a16="http://schemas.microsoft.com/office/drawing/2014/main" id="{12215803-24F5-495B-ACCE-202F5027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72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0" name="stat-label">
            <a:extLst xmlns:a="http://schemas.openxmlformats.org/drawingml/2006/main">
              <a:ext uri="{FF2B5EF4-FFF2-40B4-BE49-F238E27FC236}">
                <a16:creationId xmlns:a16="http://schemas.microsoft.com/office/drawing/2014/main" id="{F4D74113-2D02-4884-837D-283BB626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286500"/>
            <a:ext cx="521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of New Jersey businesses are small businesses</a:t>
            </a:r>
          </a:p>
        </p:txBody>
      </p:sp>
      <p:sp>
        <p:nvSpPr>
          <p:cNvPr id="11" name="stat-value">
            <a:extLst xmlns:a="http://schemas.openxmlformats.org/drawingml/2006/main">
              <a:ext uri="{FF2B5EF4-FFF2-40B4-BE49-F238E27FC236}">
                <a16:creationId xmlns:a16="http://schemas.microsoft.com/office/drawing/2014/main" id="{31667940-C41E-4D6D-B8B8-DB03D6BF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105400"/>
            <a:ext cx="52197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73D2D"/>
                </a:solidFill>
              </a:defRPr>
            </a:pPr>
            <a:r>
              <a:rPr sz="6450" b="1">
                <a:solidFill>
                  <a:srgbClr val="173D2D"/>
                </a:solidFill>
              </a:rPr>
              <a:t>1.7M</a:t>
            </a:r>
          </a:p>
        </p:txBody>
      </p:sp>
      <p:sp>
        <p:nvSpPr>
          <p:cNvPr id="12" name="stat-rule">
            <a:extLst xmlns:a="http://schemas.openxmlformats.org/drawingml/2006/main">
              <a:ext uri="{FF2B5EF4-FFF2-40B4-BE49-F238E27FC236}">
                <a16:creationId xmlns:a16="http://schemas.microsoft.com/office/drawing/2014/main" id="{C3FD790C-0478-47D2-84BC-74D1EA7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172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3" name="stat-label">
            <a:extLst xmlns:a="http://schemas.openxmlformats.org/drawingml/2006/main">
              <a:ext uri="{FF2B5EF4-FFF2-40B4-BE49-F238E27FC236}">
                <a16:creationId xmlns:a16="http://schemas.microsoft.com/office/drawing/2014/main" id="{D05175F3-BD07-44F3-ADAB-78C2D4DC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286500"/>
            <a:ext cx="521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small-business employees statewide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A83D8F4-FC7A-47D0-BCF9-1E768006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53450"/>
            <a:ext cx="12687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1C"/>
                </a:solidFill>
              </a:defRPr>
            </a:pPr>
            <a:r>
              <a:rPr sz="2025">
                <a:solidFill>
                  <a:srgbClr val="17211C"/>
                </a:solidFill>
              </a:rPr>
              <a:t>The wedge is not national origination volume. It is a local, controlled pilot with enough demand density to learn quickly without spreading compliance and underwriting thin.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F1812E34-3DCC-4CDA-92B8-5048BF6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Source: U.S. SBA Office of Advocacy, 2024 Small Business Profile: New Jersey.</a:t>
            </a:r>
          </a:p>
        </p:txBody>
      </p:sp>
    </p:spTree>
    <p:extLst>
      <p:ext uri="{BB962C8B-B14F-4D97-AF65-F5344CB8AC3E}">
        <p14:creationId xmlns:p14="http://schemas.microsoft.com/office/powerpoint/2010/main" val="20575639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FB0B82-09B0-4C59-80BE-8DAEAE64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E1762C7-7380-490B-BFE0-E5F93E1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THE CASH-FLOW GAP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43659E-1A20-4545-93FA-BC5F61D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Small firms still seek small-dollar capital for operating needs.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8A33684-5062-457B-A0E8-B5B3C72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46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gap FORZA serves is practical: payroll, inventory, repairs, receivables timing, and uneven cash flow.</a:t>
            </a:r>
          </a:p>
        </p:txBody>
      </p:sp>
      <p:graphicFrame>
        <p:nvGraphicFramePr>
          <p:cNvPr id="5" name="sbcs-chart"/>
          <p:cNvGraphicFramePr/>
          <p:nvPr/>
        </p:nvGraphicFramePr>
        <p:xfrm>
          <a:off xmlns:a="http://schemas.openxmlformats.org/drawingml/2006/main" x="914400" y="3429000"/>
          <a:ext xmlns:a="http://schemas.openxmlformats.org/drawingml/2006/main" cx="93567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11dd3ec4f434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09088-0650-4731-851A-D9EB4FC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628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4A32"/>
                </a:solidFill>
              </a:defRPr>
            </a:pPr>
            <a:r>
              <a:rPr sz="2475" b="1">
                <a:solidFill>
                  <a:srgbClr val="0F4A32"/>
                </a:solidFill>
              </a:rPr>
              <a:t>59%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5C847-9E82-4D80-A63A-757153F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81950"/>
            <a:ext cx="2209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5F"/>
                </a:solidFill>
              </a:defRPr>
            </a:pPr>
            <a:r>
              <a:rPr sz="1125">
                <a:solidFill>
                  <a:srgbClr val="59645F"/>
                </a:solidFill>
              </a:rPr>
              <a:t>applied for financing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C4349-409A-4EC5-9980-E415ABE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5628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4A32"/>
                </a:solidFill>
              </a:defRPr>
            </a:pPr>
            <a:r>
              <a:rPr sz="2475" b="1">
                <a:solidFill>
                  <a:srgbClr val="0F4A32"/>
                </a:solidFill>
              </a:rPr>
              <a:t>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5B33E-26A9-4E73-8C22-F23557A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981950"/>
            <a:ext cx="2209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5F"/>
                </a:solidFill>
              </a:defRPr>
            </a:pPr>
            <a:r>
              <a:rPr sz="1125">
                <a:solidFill>
                  <a:srgbClr val="59645F"/>
                </a:solidFill>
              </a:rPr>
              <a:t>sought &lt;$50k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C108-7B9B-45E5-8750-E0032B3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5628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D5842"/>
                </a:solidFill>
              </a:defRPr>
            </a:pPr>
            <a:r>
              <a:rPr sz="2475" b="1">
                <a:solidFill>
                  <a:srgbClr val="7D5842"/>
                </a:solidFill>
              </a:rPr>
              <a:t>56%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B0DB2-CF71-4767-B2A4-1E29566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981950"/>
            <a:ext cx="2209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5F"/>
                </a:solidFill>
              </a:defRPr>
            </a:pPr>
            <a:r>
              <a:rPr sz="1125">
                <a:solidFill>
                  <a:srgbClr val="59645F"/>
                </a:solidFill>
              </a:rPr>
              <a:t>for operating expenses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F1E81-3E81-44AE-9882-9EC5764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628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38A3C"/>
                </a:solidFill>
              </a:defRPr>
            </a:pPr>
            <a:r>
              <a:rPr sz="2475" b="1">
                <a:solidFill>
                  <a:srgbClr val="B38A3C"/>
                </a:solidFill>
              </a:rPr>
              <a:t>24%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473F-7DBA-4AF9-888B-B0DA485D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981950"/>
            <a:ext cx="2209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5F"/>
                </a:solidFill>
              </a:defRPr>
            </a:pPr>
            <a:r>
              <a:rPr sz="1125">
                <a:solidFill>
                  <a:srgbClr val="59645F"/>
                </a:solidFill>
              </a:rPr>
              <a:t>received none</a:t>
            </a:r>
          </a:p>
        </p:txBody>
      </p:sp>
      <p:sp>
        <p:nvSpPr>
          <p:cNvPr id="14" name="stat-value">
            <a:extLst xmlns:a="http://schemas.openxmlformats.org/drawingml/2006/main">
              <a:ext uri="{FF2B5EF4-FFF2-40B4-BE49-F238E27FC236}">
                <a16:creationId xmlns:a16="http://schemas.microsoft.com/office/drawing/2014/main" id="{5F563CEF-E898-4DD6-8CE3-B044C561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10050"/>
            <a:ext cx="6686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B38A3C"/>
                </a:solidFill>
              </a:defRPr>
            </a:pPr>
            <a:r>
              <a:rPr sz="5100" b="1">
                <a:solidFill>
                  <a:srgbClr val="B38A3C"/>
                </a:solidFill>
              </a:rPr>
              <a:t>51%</a:t>
            </a:r>
          </a:p>
        </p:txBody>
      </p:sp>
      <p:sp>
        <p:nvSpPr>
          <p:cNvPr id="15" name="stat-rule">
            <a:extLst xmlns:a="http://schemas.openxmlformats.org/drawingml/2006/main">
              <a:ext uri="{FF2B5EF4-FFF2-40B4-BE49-F238E27FC236}">
                <a16:creationId xmlns:a16="http://schemas.microsoft.com/office/drawing/2014/main" id="{B8692F8F-4805-4C63-8487-9605CF2E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67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A32"/>
          </a:solidFill>
          <a:ln xmlns:a="http://schemas.openxmlformats.org/drawingml/2006/main" w="0">
            <a:solidFill>
              <a:srgbClr val="0F4A32"/>
            </a:solidFill>
            <a:prstDash val="solid"/>
          </a:ln>
        </p:spPr>
      </p:sp>
      <p:sp>
        <p:nvSpPr>
          <p:cNvPr id="16" name="stat-label">
            <a:extLst xmlns:a="http://schemas.openxmlformats.org/drawingml/2006/main">
              <a:ext uri="{FF2B5EF4-FFF2-40B4-BE49-F238E27FC236}">
                <a16:creationId xmlns:a16="http://schemas.microsoft.com/office/drawing/2014/main" id="{58DBDC7E-A11C-42BA-AA5C-5BF8DE9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81600"/>
            <a:ext cx="668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reported uneven cash flow as a financial challenge</a:t>
            </a:r>
          </a:p>
        </p:txBody>
      </p:sp>
      <p:sp>
        <p:nvSpPr>
          <p:cNvPr id="17" name="dot-0">
            <a:extLst xmlns:a="http://schemas.openxmlformats.org/drawingml/2006/main">
              <a:ext uri="{FF2B5EF4-FFF2-40B4-BE49-F238E27FC236}">
                <a16:creationId xmlns:a16="http://schemas.microsoft.com/office/drawing/2014/main" id="{D8509532-EF17-4496-9541-B357A6F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7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1B1E4-A97B-473D-A540-158321B9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676900"/>
            <a:ext cx="6457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1C"/>
                </a:solidFill>
              </a:defRPr>
            </a:pPr>
            <a:r>
              <a:rPr sz="1800">
                <a:solidFill>
                  <a:srgbClr val="17211C"/>
                </a:solidFill>
              </a:rPr>
              <a:t>Bank and SBA processes often do not match a $5k-$15k timing need.</a:t>
            </a:r>
          </a:p>
        </p:txBody>
      </p:sp>
      <p:sp>
        <p:nvSpPr>
          <p:cNvPr id="19" name="dot-1">
            <a:extLst xmlns:a="http://schemas.openxmlformats.org/drawingml/2006/main">
              <a:ext uri="{FF2B5EF4-FFF2-40B4-BE49-F238E27FC236}">
                <a16:creationId xmlns:a16="http://schemas.microsoft.com/office/drawing/2014/main" id="{BFA6BC27-BFB2-4BB9-83DA-C7416B39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38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9381E-5328-4995-913F-4CF80AE0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457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1C"/>
                </a:solidFill>
              </a:defRPr>
            </a:pPr>
            <a:r>
              <a:rPr sz="1800">
                <a:solidFill>
                  <a:srgbClr val="17211C"/>
                </a:solidFill>
              </a:rPr>
              <a:t>Existing debt is a rising denial factor, so underwriting discipline is part of the product.</a:t>
            </a:r>
          </a:p>
        </p:txBody>
      </p:sp>
      <p:sp>
        <p:nvSpPr>
          <p:cNvPr id="21" name="dot-2">
            <a:extLst xmlns:a="http://schemas.openxmlformats.org/drawingml/2006/main">
              <a:ext uri="{FF2B5EF4-FFF2-40B4-BE49-F238E27FC236}">
                <a16:creationId xmlns:a16="http://schemas.microsoft.com/office/drawing/2014/main" id="{1579AABC-8DE5-4D4D-9D7F-F2BAC4AC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08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03CCF-9A0B-4D04-8C16-4F27DAF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70866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1C"/>
                </a:solidFill>
              </a:defRPr>
            </a:pPr>
            <a:r>
              <a:rPr sz="1800">
                <a:solidFill>
                  <a:srgbClr val="17211C"/>
                </a:solidFill>
              </a:rPr>
              <a:t>Speed matters, but careless speed destroys the portfolio.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4A7523C5-E149-467E-B754-F87DDEA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Source: Federal Reserve Banks, 2025 Small Business Credit Survey: Report on Employer Firms.</a:t>
            </a:r>
          </a:p>
        </p:txBody>
      </p:sp>
    </p:spTree>
    <p:extLst>
      <p:ext uri="{BB962C8B-B14F-4D97-AF65-F5344CB8AC3E}">
        <p14:creationId xmlns:p14="http://schemas.microsoft.com/office/powerpoint/2010/main" val="6615938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C2E108D-D54E-411E-9DE1-1CF32B1C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F9879A-4279-4284-A427-06B8A58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THE FORZA 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CE2AF7-2C99-43F2-9166-C3A5A7D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A receivables-purchase product designed to stay inside the guardrails.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32077B1-61F4-4318-AEB6-80A2DA0E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184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launch offer is intentionally constrained so every file can be reviewed before money leaves the building.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2152E663-E86B-4344-8E87-0491ABF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562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F4A32"/>
                </a:solidFill>
              </a:defRPr>
            </a:pPr>
            <a:r>
              <a:rPr sz="5850" b="1">
                <a:solidFill>
                  <a:srgbClr val="0F4A32"/>
                </a:solidFill>
              </a:rPr>
              <a:t>$5k-$15k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F0B7D458-6731-42AC-9371-9093EB6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DA72FE0A-97F1-4A93-9711-1C872BA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first funding requests</a:t>
            </a:r>
          </a:p>
        </p:txBody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C602081C-22A5-4C91-89FC-AC9A6086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7562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7D5842"/>
                </a:solidFill>
              </a:defRPr>
            </a:pPr>
            <a:r>
              <a:rPr sz="5850" b="1">
                <a:solidFill>
                  <a:srgbClr val="7D5842"/>
                </a:solidFill>
              </a:rPr>
              <a:t>1.50x</a:t>
            </a:r>
          </a:p>
        </p:txBody>
      </p:sp>
      <p:sp>
        <p:nvSpPr>
          <p:cNvPr id="9" name="stat-rule">
            <a:extLst xmlns:a="http://schemas.openxmlformats.org/drawingml/2006/main">
              <a:ext uri="{FF2B5EF4-FFF2-40B4-BE49-F238E27FC236}">
                <a16:creationId xmlns:a16="http://schemas.microsoft.com/office/drawing/2014/main" id="{B599F6EC-39BD-41C3-A63A-C70DE31D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0" name="stat-label">
            <a:extLst xmlns:a="http://schemas.openxmlformats.org/drawingml/2006/main">
              <a:ext uri="{FF2B5EF4-FFF2-40B4-BE49-F238E27FC236}">
                <a16:creationId xmlns:a16="http://schemas.microsoft.com/office/drawing/2014/main" id="{5AAA2E16-3EB5-488E-A5CF-B7B7004C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79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illustrative starting factor</a:t>
            </a:r>
          </a:p>
        </p:txBody>
      </p:sp>
      <p:sp>
        <p:nvSpPr>
          <p:cNvPr id="11" name="stat-value">
            <a:extLst xmlns:a="http://schemas.openxmlformats.org/drawingml/2006/main">
              <a:ext uri="{FF2B5EF4-FFF2-40B4-BE49-F238E27FC236}">
                <a16:creationId xmlns:a16="http://schemas.microsoft.com/office/drawing/2014/main" id="{C839F5AD-AE0C-452F-87F8-CD55F248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91350"/>
            <a:ext cx="7562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38A3C"/>
                </a:solidFill>
              </a:defRPr>
            </a:pPr>
            <a:r>
              <a:rPr sz="5850" b="1">
                <a:solidFill>
                  <a:srgbClr val="B38A3C"/>
                </a:solidFill>
              </a:rPr>
              <a:t>1.10x</a:t>
            </a:r>
          </a:p>
        </p:txBody>
      </p:sp>
      <p:sp>
        <p:nvSpPr>
          <p:cNvPr id="12" name="stat-rule">
            <a:extLst xmlns:a="http://schemas.openxmlformats.org/drawingml/2006/main">
              <a:ext uri="{FF2B5EF4-FFF2-40B4-BE49-F238E27FC236}">
                <a16:creationId xmlns:a16="http://schemas.microsoft.com/office/drawing/2014/main" id="{28A10D63-E4A5-41BA-B38E-9ECE6305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62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3" name="stat-label">
            <a:extLst xmlns:a="http://schemas.openxmlformats.org/drawingml/2006/main">
              <a:ext uri="{FF2B5EF4-FFF2-40B4-BE49-F238E27FC236}">
                <a16:creationId xmlns:a16="http://schemas.microsoft.com/office/drawing/2014/main" id="{02A1CCC8-61E1-48FF-919B-85B6D16E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772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eligible 30-day discount example</a:t>
            </a:r>
          </a:p>
        </p:txBody>
      </p:sp>
      <p:sp>
        <p:nvSpPr>
          <p:cNvPr id="14" name="dot-0">
            <a:extLst xmlns:a="http://schemas.openxmlformats.org/drawingml/2006/main">
              <a:ext uri="{FF2B5EF4-FFF2-40B4-BE49-F238E27FC236}">
                <a16:creationId xmlns:a16="http://schemas.microsoft.com/office/drawing/2014/main" id="{A093F664-476D-4693-B5CA-1D1E6BE5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79837-48D5-4428-BA15-EECEEBC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1C"/>
                </a:solidFill>
              </a:defRPr>
            </a:pPr>
            <a:r>
              <a:rPr sz="2100">
                <a:solidFill>
                  <a:srgbClr val="17211C"/>
                </a:solidFill>
              </a:rPr>
              <a:t>NJ-only business receivables purchase, not consumer lending.</a:t>
            </a:r>
          </a:p>
        </p:txBody>
      </p:sp>
      <p:sp>
        <p:nvSpPr>
          <p:cNvPr id="16" name="dot-1">
            <a:extLst xmlns:a="http://schemas.openxmlformats.org/drawingml/2006/main">
              <a:ext uri="{FF2B5EF4-FFF2-40B4-BE49-F238E27FC236}">
                <a16:creationId xmlns:a16="http://schemas.microsoft.com/office/drawing/2014/main" id="{7E5C6B6D-79F7-4B7C-BF96-168B2269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A54D1-7232-4E1F-BF95-C568762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1C"/>
                </a:solidFill>
              </a:defRPr>
            </a:pPr>
            <a:r>
              <a:rPr sz="2100">
                <a:solidFill>
                  <a:srgbClr val="17211C"/>
                </a:solidFill>
              </a:rPr>
              <a:t>12+ months in business and $15k+ monthly gross revenue.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8A8BBAE2-F88B-481D-80F2-588FA7EB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E9B7B-D228-4C39-A641-C5776902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24500"/>
            <a:ext cx="8134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1C"/>
                </a:solidFill>
              </a:defRPr>
            </a:pPr>
            <a:r>
              <a:rPr sz="2100">
                <a:solidFill>
                  <a:srgbClr val="17211C"/>
                </a:solidFill>
              </a:rPr>
              <a:t>Public forms collect business basics only; sensitive documents move to secure review.</a:t>
            </a:r>
          </a:p>
        </p:txBody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1C2F9522-5345-4649-B285-0B56B3C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0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73410-D117-4A33-BBDE-37394E8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055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1C"/>
                </a:solidFill>
              </a:defRPr>
            </a:pPr>
            <a:r>
              <a:rPr sz="2100">
                <a:solidFill>
                  <a:srgbClr val="17211C"/>
                </a:solidFill>
              </a:rPr>
              <a:t>AI Automation Audit stays separate from funding decisions.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7BE2ED9C-8C23-4595-A235-5B327DF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838950"/>
            <a:ext cx="7696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F4A32"/>
                </a:solidFill>
              </a:defRPr>
            </a:pPr>
            <a:r>
              <a:rPr sz="2250">
                <a:solidFill>
                  <a:srgbClr val="0F4A32"/>
                </a:solidFill>
              </a:rPr>
              <a:t>The model rejects the MCA industry’s weakest habit: scaling volume before controls.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811A6-885D-426E-979C-37E07A85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153AF-C82B-43D1-903D-AB53A895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9277350"/>
            <a:ext cx="93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Investor pitch · 4</a:t>
            </a:r>
          </a:p>
        </p:txBody>
      </p:sp>
    </p:spTree>
    <p:extLst>
      <p:ext uri="{BB962C8B-B14F-4D97-AF65-F5344CB8AC3E}">
        <p14:creationId xmlns:p14="http://schemas.microsoft.com/office/powerpoint/2010/main" val="19403879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74A8A6-7986-4AA4-8DD0-F030A36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106D8FB-2EA3-4857-87D1-5908816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LAUNCH ASSETS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24ED3E-A9B2-41A7-9625-8204A6E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The investor conversation starts with a working funnel, not an idea.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9131730-93E9-4EE3-B4B5-40D150F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1696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site, static export, lead forms, content plan, and operating docs are already assembled for review and iteration.</a:t>
            </a:r>
          </a:p>
        </p:txBody>
      </p:sp>
      <p:pic>
        <p:nvPicPr>
          <p:cNvPr id="5" name="website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b66c7fbec454f"/>
          <a:srcRect xmlns:a="http://schemas.openxmlformats.org/drawingml/2006/main" l="0" t="4104" r="0" b="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352800"/>
            <a:ext cx="9961746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EB094F5F-95B4-413F-8253-BCC8485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5EB4-6FF7-4894-8886-A7AF65DF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WordPress theme and uploadable theme zip.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19E621FF-C363-418F-99BF-2490982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96D3A-B082-4CAB-BE36-6EA82CBC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48640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Static site export ready for Cloudflare Pages review.</a:t>
            </a:r>
          </a:p>
        </p:txBody>
      </p:sp>
      <p:sp>
        <p:nvSpPr>
          <p:cNvPr id="10" name="dot-2">
            <a:extLst xmlns:a="http://schemas.openxmlformats.org/drawingml/2006/main">
              <a:ext uri="{FF2B5EF4-FFF2-40B4-BE49-F238E27FC236}">
                <a16:creationId xmlns:a16="http://schemas.microsoft.com/office/drawing/2014/main" id="{0337B0BC-3341-44C2-9BC1-AFEB61E6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2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4365C-A863-4B2B-A405-91DBE7A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92455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Eligibility and AI audit forms with lead routing plan.</a:t>
            </a:r>
          </a:p>
        </p:txBody>
      </p:sp>
      <p:sp>
        <p:nvSpPr>
          <p:cNvPr id="12" name="dot-3">
            <a:extLst xmlns:a="http://schemas.openxmlformats.org/drawingml/2006/main">
              <a:ext uri="{FF2B5EF4-FFF2-40B4-BE49-F238E27FC236}">
                <a16:creationId xmlns:a16="http://schemas.microsoft.com/office/drawing/2014/main" id="{7FB2F7E4-CB67-4325-89EA-836AA50B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0A47-1180-44FC-9621-53FA774D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6270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SEO calendar, starter articles, and industry page copy.</a:t>
            </a:r>
          </a:p>
        </p:txBody>
      </p:sp>
      <p:sp>
        <p:nvSpPr>
          <p:cNvPr id="14" name="dot-4">
            <a:extLst xmlns:a="http://schemas.openxmlformats.org/drawingml/2006/main">
              <a:ext uri="{FF2B5EF4-FFF2-40B4-BE49-F238E27FC236}">
                <a16:creationId xmlns:a16="http://schemas.microsoft.com/office/drawing/2014/main" id="{E46CC17F-8F32-4471-9C94-DE9D172F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80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7A394-CFC6-42C3-B2B0-6C342E23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800850"/>
            <a:ext cx="5848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Launch checklist, underwriting playbook, and counsel packet.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11782-D29E-4370-9CD4-3996B51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4433C-7BD4-4AE2-A8FD-4B7F518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927735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Product and launch materials are editable in the workspace</a:t>
            </a:r>
          </a:p>
        </p:txBody>
      </p:sp>
    </p:spTree>
    <p:extLst>
      <p:ext uri="{BB962C8B-B14F-4D97-AF65-F5344CB8AC3E}">
        <p14:creationId xmlns:p14="http://schemas.microsoft.com/office/powerpoint/2010/main" val="820678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5A8333-9D80-4765-9491-25FAE840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50B4AA2-20DC-43C6-AF61-29D6983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GO-TO-MARKET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08E64-9745-4BC7-A1CC-E682EA8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Organic first. Paid second. HubSpot underneath.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69D7869-14FE-4CC3-ACB9-79B4E59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506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FORZA’s acquisition plan is built around high-intent education, industry landing pages, and conservative Meta testing.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38E39CE0-AA60-444D-A009-7374064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4A32"/>
                </a:solidFill>
              </a:defRPr>
            </a:pPr>
            <a:r>
              <a:rPr sz="3750" b="1">
                <a:solidFill>
                  <a:srgbClr val="0F4A32"/>
                </a:solidFill>
              </a:rPr>
              <a:t>SEO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832EBB04-ED15-4F65-96C2-2E8D080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810718F2-EF2D-4929-A0DA-98465CC3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448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45F"/>
                </a:solidFill>
              </a:defRPr>
            </a:pPr>
            <a:r>
              <a:rPr sz="1575" b="0">
                <a:solidFill>
                  <a:srgbClr val="59645F"/>
                </a:solidFill>
              </a:rPr>
              <a:t>NJ funding guides and industry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F71F2-DC97-4BB4-B01D-623B091F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47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38A3C"/>
                </a:solidFill>
              </a:defRPr>
            </a:pPr>
            <a:r>
              <a:rPr sz="3150" b="1">
                <a:solidFill>
                  <a:srgbClr val="B38A3C"/>
                </a:solidFill>
              </a:rPr>
              <a:t>→</a:t>
            </a:r>
          </a:p>
        </p:txBody>
      </p:sp>
      <p:sp>
        <p:nvSpPr>
          <p:cNvPr id="9" name="stat-value">
            <a:extLst xmlns:a="http://schemas.openxmlformats.org/drawingml/2006/main">
              <a:ext uri="{FF2B5EF4-FFF2-40B4-BE49-F238E27FC236}">
                <a16:creationId xmlns:a16="http://schemas.microsoft.com/office/drawing/2014/main" id="{DB0CB808-F178-4732-8057-4F884BF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815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7D5842"/>
                </a:solidFill>
              </a:defRPr>
            </a:pPr>
            <a:r>
              <a:rPr sz="3750" b="1">
                <a:solidFill>
                  <a:srgbClr val="7D5842"/>
                </a:solidFill>
              </a:rPr>
              <a:t>Form</a:t>
            </a:r>
          </a:p>
        </p:txBody>
      </p:sp>
      <p:sp>
        <p:nvSpPr>
          <p:cNvPr id="10" name="stat-rule">
            <a:extLst xmlns:a="http://schemas.openxmlformats.org/drawingml/2006/main">
              <a:ext uri="{FF2B5EF4-FFF2-40B4-BE49-F238E27FC236}">
                <a16:creationId xmlns:a16="http://schemas.microsoft.com/office/drawing/2014/main" id="{AD26CBC5-535C-4C55-97F1-18766AB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91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1" name="stat-label">
            <a:extLst xmlns:a="http://schemas.openxmlformats.org/drawingml/2006/main">
              <a:ext uri="{FF2B5EF4-FFF2-40B4-BE49-F238E27FC236}">
                <a16:creationId xmlns:a16="http://schemas.microsoft.com/office/drawing/2014/main" id="{AE4F2752-6550-4909-9E43-C1D19BE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3448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45F"/>
                </a:solidFill>
              </a:defRPr>
            </a:pPr>
            <a:r>
              <a:rPr sz="1575" b="0">
                <a:solidFill>
                  <a:srgbClr val="59645F"/>
                </a:solidFill>
              </a:rPr>
              <a:t>short eligibility review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4CB0B-9F25-45BD-B2BE-7531E964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29200"/>
            <a:ext cx="47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38A3C"/>
                </a:solidFill>
              </a:defRPr>
            </a:pPr>
            <a:r>
              <a:rPr sz="3150" b="1">
                <a:solidFill>
                  <a:srgbClr val="B38A3C"/>
                </a:solidFill>
              </a:rPr>
              <a:t>→</a:t>
            </a:r>
          </a:p>
        </p:txBody>
      </p:sp>
      <p:sp>
        <p:nvSpPr>
          <p:cNvPr id="13" name="stat-value">
            <a:extLst xmlns:a="http://schemas.openxmlformats.org/drawingml/2006/main">
              <a:ext uri="{FF2B5EF4-FFF2-40B4-BE49-F238E27FC236}">
                <a16:creationId xmlns:a16="http://schemas.microsoft.com/office/drawing/2014/main" id="{D44E5E63-6BFF-4FFB-8E1E-958A1C8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815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2D"/>
                </a:solidFill>
              </a:defRPr>
            </a:pPr>
            <a:r>
              <a:rPr sz="3750" b="1">
                <a:solidFill>
                  <a:srgbClr val="173D2D"/>
                </a:solidFill>
              </a:rPr>
              <a:t>CRM</a:t>
            </a:r>
          </a:p>
        </p:txBody>
      </p:sp>
      <p:sp>
        <p:nvSpPr>
          <p:cNvPr id="14" name="stat-rule">
            <a:extLst xmlns:a="http://schemas.openxmlformats.org/drawingml/2006/main">
              <a:ext uri="{FF2B5EF4-FFF2-40B4-BE49-F238E27FC236}">
                <a16:creationId xmlns:a16="http://schemas.microsoft.com/office/drawing/2014/main" id="{9F05147F-9796-45B8-B2C4-CFBA209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91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5" name="stat-label">
            <a:extLst xmlns:a="http://schemas.openxmlformats.org/drawingml/2006/main">
              <a:ext uri="{FF2B5EF4-FFF2-40B4-BE49-F238E27FC236}">
                <a16:creationId xmlns:a16="http://schemas.microsoft.com/office/drawing/2014/main" id="{6513D00D-1A76-4EDA-BD6E-56C6D74A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67300"/>
            <a:ext cx="3448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45F"/>
                </a:solidFill>
              </a:defRPr>
            </a:pPr>
            <a:r>
              <a:rPr sz="1575" b="0">
                <a:solidFill>
                  <a:srgbClr val="59645F"/>
                </a:solidFill>
              </a:rPr>
              <a:t>HubSpot stages and SLAs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E543-49B8-4F14-A336-A1BD1C00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47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38A3C"/>
                </a:solidFill>
              </a:defRPr>
            </a:pPr>
            <a:r>
              <a:rPr sz="3150" b="1">
                <a:solidFill>
                  <a:srgbClr val="B38A3C"/>
                </a:solidFill>
              </a:rPr>
              <a:t>→</a:t>
            </a:r>
          </a:p>
        </p:txBody>
      </p:sp>
      <p:sp>
        <p:nvSpPr>
          <p:cNvPr id="17" name="stat-value">
            <a:extLst xmlns:a="http://schemas.openxmlformats.org/drawingml/2006/main">
              <a:ext uri="{FF2B5EF4-FFF2-40B4-BE49-F238E27FC236}">
                <a16:creationId xmlns:a16="http://schemas.microsoft.com/office/drawing/2014/main" id="{F4101B9C-EC28-4394-9431-6E8B61C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3815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4A32"/>
                </a:solidFill>
              </a:defRPr>
            </a:pPr>
            <a:r>
              <a:rPr sz="3750" b="1">
                <a:solidFill>
                  <a:srgbClr val="0F4A32"/>
                </a:solidFill>
              </a:rPr>
              <a:t>Call</a:t>
            </a:r>
          </a:p>
        </p:txBody>
      </p:sp>
      <p:sp>
        <p:nvSpPr>
          <p:cNvPr id="18" name="stat-rule">
            <a:extLst xmlns:a="http://schemas.openxmlformats.org/drawingml/2006/main">
              <a:ext uri="{FF2B5EF4-FFF2-40B4-BE49-F238E27FC236}">
                <a16:creationId xmlns:a16="http://schemas.microsoft.com/office/drawing/2014/main" id="{0CE3BB3B-92F5-401E-99CB-0F13AFB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991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9" name="stat-label">
            <a:extLst xmlns:a="http://schemas.openxmlformats.org/drawingml/2006/main">
              <a:ext uri="{FF2B5EF4-FFF2-40B4-BE49-F238E27FC236}">
                <a16:creationId xmlns:a16="http://schemas.microsoft.com/office/drawing/2014/main" id="{B2E3C3A5-1BBF-4388-98FC-D71253A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067300"/>
            <a:ext cx="3448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45F"/>
                </a:solidFill>
              </a:defRPr>
            </a:pPr>
            <a:r>
              <a:rPr sz="1575" b="0">
                <a:solidFill>
                  <a:srgbClr val="59645F"/>
                </a:solidFill>
              </a:rPr>
              <a:t>secure docs after human review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4D392389-E4B7-40BB-AD2E-0EDEEEB7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57912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1C"/>
                </a:solidFill>
              </a:defRPr>
            </a:pPr>
            <a:r>
              <a:rPr sz="2025">
                <a:solidFill>
                  <a:srgbClr val="17211C"/>
                </a:solidFill>
              </a:rPr>
              <a:t>Meta test budget: under $1k/month, statewide NJ, education-first, no guaranteed approval language.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FB122BA3-7677-4CEA-9E99-00014CF1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8096250"/>
            <a:ext cx="69723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1C"/>
                </a:solidFill>
              </a:defRPr>
            </a:pPr>
            <a:r>
              <a:rPr sz="2025">
                <a:solidFill>
                  <a:srgbClr val="17211C"/>
                </a:solidFill>
              </a:rPr>
              <a:t>Weekly content cadence: MCA basics, factor rates, reconciliation, second-position risk, and NJ service-business guides.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B7DFC-C851-438C-825A-EF0A91C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6ECF8-406B-4747-983C-9FDDE9B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9277350"/>
            <a:ext cx="93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Investor pitch · 6</a:t>
            </a:r>
          </a:p>
        </p:txBody>
      </p:sp>
    </p:spTree>
    <p:extLst>
      <p:ext uri="{BB962C8B-B14F-4D97-AF65-F5344CB8AC3E}">
        <p14:creationId xmlns:p14="http://schemas.microsoft.com/office/powerpoint/2010/main" val="15785278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703C0A-D76B-4A12-946E-FC2C5F9C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BC0BC1-6226-4A5A-B861-158FDB2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RISK DESIGN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22C41C-1F8D-4A68-AD56-B71D0E57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The underwriting surface is operational from day one.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CF9DCF-A423-4EAA-BB3C-21CCFC7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906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FORZA’s internal Deal Desk turns the launch box into a repeatable approval memo: fit, exposure, remittance load, and risk notes.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0C4BC23F-A10D-4659-BE55-E2C0D35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F878-D0E3-4152-8A26-F975A6F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6038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Capital reserve and single-merchant exposure controls.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F43830DF-F83E-4928-9412-1170AFE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01482-26F7-418F-824A-703C05EE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6038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Average balance, negative-day, NSF, and existing-position checks.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C0064095-9A69-4E8F-826A-93487E4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C7028-0315-4165-973A-EC7F383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6038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Combined remittance load and holdback thresholds.</a:t>
            </a:r>
          </a:p>
        </p:txBody>
      </p:sp>
      <p:sp>
        <p:nvSpPr>
          <p:cNvPr id="11" name="dot-3">
            <a:extLst xmlns:a="http://schemas.openxmlformats.org/drawingml/2006/main">
              <a:ext uri="{FF2B5EF4-FFF2-40B4-BE49-F238E27FC236}">
                <a16:creationId xmlns:a16="http://schemas.microsoft.com/office/drawing/2014/main" id="{27415AAA-35E3-4FBC-9D31-BC0F15E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EA464-E451-461C-A72E-886E861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34150"/>
            <a:ext cx="6038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UCC/tax lien, entity status, identity, and senior contract review before final approval.</a:t>
            </a:r>
          </a:p>
        </p:txBody>
      </p:sp>
      <p:pic>
        <p:nvPicPr>
          <p:cNvPr id="13" name="deal-desk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dfdd0c5b146d9"/>
          <a:srcRect xmlns:a="http://schemas.openxmlformats.org/drawingml/2006/main" l="0" t="2392" r="0" b="2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061" y="2971800"/>
            <a:ext cx="9763539" cy="5810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B5768-F9EA-4CA7-A390-5913AD6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8EEBA-26F3-4C1D-8F10-D857F005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9277350"/>
            <a:ext cx="339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Deal Desk is an internal planning tool, not an approval engine</a:t>
            </a:r>
          </a:p>
        </p:txBody>
      </p:sp>
    </p:spTree>
    <p:extLst>
      <p:ext uri="{BB962C8B-B14F-4D97-AF65-F5344CB8AC3E}">
        <p14:creationId xmlns:p14="http://schemas.microsoft.com/office/powerpoint/2010/main" val="3172208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084998-4DCB-4CAD-888E-98CABFE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BDC063D-B59D-4EFA-A087-CD4F22A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PILOT ECONOMICS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8EF9B-E8DD-42F8-9E4F-465611BD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Small checks create room to learn before scaling exposure.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EA83608-6D83-42AD-AE24-E934A9D5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201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launch model favors controlled gross spread, liquidity reserves, and concentration discipline over maximum origination volume.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3921B6A5-387A-4CF6-9298-4CE3FCC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796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F4A32"/>
                </a:solidFill>
              </a:defRPr>
            </a:pPr>
            <a:r>
              <a:rPr sz="5250" b="1">
                <a:solidFill>
                  <a:srgbClr val="0F4A32"/>
                </a:solidFill>
              </a:rPr>
              <a:t>$10k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790ECDFE-A598-46E5-8203-5AE438BD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F7054AFC-1EAE-44C8-B8C1-766AE305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796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example advance</a:t>
            </a:r>
          </a:p>
        </p:txBody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238E853F-A2E4-4B51-A624-D93B2CA1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796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3D2D"/>
                </a:solidFill>
              </a:defRPr>
            </a:pPr>
            <a:r>
              <a:rPr sz="5250" b="1">
                <a:solidFill>
                  <a:srgbClr val="173D2D"/>
                </a:solidFill>
              </a:rPr>
              <a:t>$15k</a:t>
            </a:r>
          </a:p>
        </p:txBody>
      </p:sp>
      <p:sp>
        <p:nvSpPr>
          <p:cNvPr id="9" name="stat-rule">
            <a:extLst xmlns:a="http://schemas.openxmlformats.org/drawingml/2006/main">
              <a:ext uri="{FF2B5EF4-FFF2-40B4-BE49-F238E27FC236}">
                <a16:creationId xmlns:a16="http://schemas.microsoft.com/office/drawing/2014/main" id="{F0F22987-3DFB-4559-B897-6F409F9D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0" name="stat-label">
            <a:extLst xmlns:a="http://schemas.openxmlformats.org/drawingml/2006/main">
              <a:ext uri="{FF2B5EF4-FFF2-40B4-BE49-F238E27FC236}">
                <a16:creationId xmlns:a16="http://schemas.microsoft.com/office/drawing/2014/main" id="{0A67F004-D692-4406-BA03-F7C0BFC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796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purchased receivables at 1.50x</a:t>
            </a:r>
          </a:p>
        </p:txBody>
      </p:sp>
      <p:sp>
        <p:nvSpPr>
          <p:cNvPr id="11" name="stat-value">
            <a:extLst xmlns:a="http://schemas.openxmlformats.org/drawingml/2006/main">
              <a:ext uri="{FF2B5EF4-FFF2-40B4-BE49-F238E27FC236}">
                <a16:creationId xmlns:a16="http://schemas.microsoft.com/office/drawing/2014/main" id="{903FD1C5-C0D9-4C5F-897E-C5AE85C6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10400"/>
            <a:ext cx="796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B38A3C"/>
                </a:solidFill>
              </a:defRPr>
            </a:pPr>
            <a:r>
              <a:rPr sz="5250" b="1">
                <a:solidFill>
                  <a:srgbClr val="B38A3C"/>
                </a:solidFill>
              </a:rPr>
              <a:t>$11k</a:t>
            </a:r>
          </a:p>
        </p:txBody>
      </p:sp>
      <p:sp>
        <p:nvSpPr>
          <p:cNvPr id="12" name="stat-rule">
            <a:extLst xmlns:a="http://schemas.openxmlformats.org/drawingml/2006/main">
              <a:ext uri="{FF2B5EF4-FFF2-40B4-BE49-F238E27FC236}">
                <a16:creationId xmlns:a16="http://schemas.microsoft.com/office/drawing/2014/main" id="{34173CA3-D67F-451F-8B9F-30BDD96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867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3" name="stat-label">
            <a:extLst xmlns:a="http://schemas.openxmlformats.org/drawingml/2006/main">
              <a:ext uri="{FF2B5EF4-FFF2-40B4-BE49-F238E27FC236}">
                <a16:creationId xmlns:a16="http://schemas.microsoft.com/office/drawing/2014/main" id="{82CE1B75-C81E-40F1-A986-6A9E8278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0"/>
            <a:ext cx="796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eligible 30-day discount amount at 1.10x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E465F-A811-4A60-98CB-E2393DA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86300"/>
            <a:ext cx="7962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C"/>
                </a:solidFill>
              </a:defRPr>
            </a:pPr>
            <a:r>
              <a:rPr sz="2550" b="1">
                <a:solidFill>
                  <a:srgbClr val="17211C"/>
                </a:solidFill>
              </a:rPr>
              <a:t>Portfolio controls</a:t>
            </a:r>
          </a:p>
        </p:txBody>
      </p:sp>
      <p:sp>
        <p:nvSpPr>
          <p:cNvPr id="15" name="dot-0">
            <a:extLst xmlns:a="http://schemas.openxmlformats.org/drawingml/2006/main">
              <a:ext uri="{FF2B5EF4-FFF2-40B4-BE49-F238E27FC236}">
                <a16:creationId xmlns:a16="http://schemas.microsoft.com/office/drawing/2014/main" id="{6FDBAFED-3548-44FD-AD6E-83DB63B7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814F4-3D73-46A6-8AF6-FCB69272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95900"/>
            <a:ext cx="773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$75k sample founder pool in current model.</a:t>
            </a:r>
          </a:p>
        </p:txBody>
      </p:sp>
      <p:sp>
        <p:nvSpPr>
          <p:cNvPr id="17" name="dot-1">
            <a:extLst xmlns:a="http://schemas.openxmlformats.org/drawingml/2006/main">
              <a:ext uri="{FF2B5EF4-FFF2-40B4-BE49-F238E27FC236}">
                <a16:creationId xmlns:a16="http://schemas.microsoft.com/office/drawing/2014/main" id="{E55AD90C-9F0D-425A-A567-8BC9521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B3428-2143-4246-9B3C-07537EE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53100"/>
            <a:ext cx="773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30% reserve leaves $52.5k deployable capital.</a:t>
            </a:r>
          </a:p>
        </p:txBody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F729C144-0907-4438-82D9-688CD4AB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1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A8446-2FFE-4A37-87B5-85042DD2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10300"/>
            <a:ext cx="773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15% max single-merchant exposure default.</a:t>
            </a:r>
          </a:p>
        </p:txBody>
      </p:sp>
      <p:sp>
        <p:nvSpPr>
          <p:cNvPr id="21" name="dot-3">
            <a:extLst xmlns:a="http://schemas.openxmlformats.org/drawingml/2006/main">
              <a:ext uri="{FF2B5EF4-FFF2-40B4-BE49-F238E27FC236}">
                <a16:creationId xmlns:a16="http://schemas.microsoft.com/office/drawing/2014/main" id="{5AF103AF-769A-4353-98A7-A9650A0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64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32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6E874-25D0-49C1-A392-F5BFB999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48450"/>
            <a:ext cx="7734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Stop-loss trigger pauses originations if two active files become materially delinquent.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BBD82730-2028-4236-8C29-BA2F18A5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467600"/>
            <a:ext cx="796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Source: FORZA portfolio allocation model in launch kit. Example only; final terms require counsel and investor agreement.</a:t>
            </a:r>
          </a:p>
        </p:txBody>
      </p:sp>
    </p:spTree>
    <p:extLst>
      <p:ext uri="{BB962C8B-B14F-4D97-AF65-F5344CB8AC3E}">
        <p14:creationId xmlns:p14="http://schemas.microsoft.com/office/powerpoint/2010/main" val="2053047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56D100-6918-4992-BE6B-D4F43185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E906777-7DF1-48D9-838F-6546E2E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ADJACENT REVENUE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53897D-BF27-4F05-8EE5-C610B68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AI consulting is a separate line, not a funding add-on.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EC70464-C73D-484F-B9B0-DFB27A66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563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AI Automation Audit gives FORZA a differentiated conversation with the same local service-business audience while keeping funding decisions clean.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A890D545-0D71-426B-AB15-29724A6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521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4A32"/>
                </a:solidFill>
              </a:defRPr>
            </a:pPr>
            <a:r>
              <a:rPr sz="4350" b="1">
                <a:solidFill>
                  <a:srgbClr val="0F4A32"/>
                </a:solidFill>
              </a:rPr>
              <a:t>Map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57A7FD2A-916E-442E-9C94-3AFE044C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79AD17ED-EC87-4D82-A8FB-BC78B24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manual workflows: calls, follow-up, invoices, scheduling</a:t>
            </a:r>
          </a:p>
        </p:txBody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23A0A5BB-5188-4F11-9B35-8368D80E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521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7D5842"/>
                </a:solidFill>
              </a:defRPr>
            </a:pPr>
            <a:r>
              <a:rPr sz="4350" b="1">
                <a:solidFill>
                  <a:srgbClr val="7D5842"/>
                </a:solidFill>
              </a:rPr>
              <a:t>Score</a:t>
            </a:r>
          </a:p>
        </p:txBody>
      </p:sp>
      <p:sp>
        <p:nvSpPr>
          <p:cNvPr id="9" name="stat-rule">
            <a:extLst xmlns:a="http://schemas.openxmlformats.org/drawingml/2006/main">
              <a:ext uri="{FF2B5EF4-FFF2-40B4-BE49-F238E27FC236}">
                <a16:creationId xmlns:a16="http://schemas.microsoft.com/office/drawing/2014/main" id="{27A471F6-47F1-4C78-9BE2-1D8AE6F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626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0" name="stat-label">
            <a:extLst xmlns:a="http://schemas.openxmlformats.org/drawingml/2006/main">
              <a:ext uri="{FF2B5EF4-FFF2-40B4-BE49-F238E27FC236}">
                <a16:creationId xmlns:a16="http://schemas.microsoft.com/office/drawing/2014/main" id="{D3E79DCB-EB42-438A-85E5-5CDBA649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76900"/>
            <a:ext cx="521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opportunities by ROI and implementation effort</a:t>
            </a:r>
          </a:p>
        </p:txBody>
      </p:sp>
      <p:sp>
        <p:nvSpPr>
          <p:cNvPr id="11" name="stat-value">
            <a:extLst xmlns:a="http://schemas.openxmlformats.org/drawingml/2006/main">
              <a:ext uri="{FF2B5EF4-FFF2-40B4-BE49-F238E27FC236}">
                <a16:creationId xmlns:a16="http://schemas.microsoft.com/office/drawing/2014/main" id="{6C826DB8-7307-4B9A-AE38-36EA5A13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86300"/>
            <a:ext cx="521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38A3C"/>
                </a:solidFill>
              </a:defRPr>
            </a:pPr>
            <a:r>
              <a:rPr sz="4350" b="1">
                <a:solidFill>
                  <a:srgbClr val="B38A3C"/>
                </a:solidFill>
              </a:rPr>
              <a:t>Refer</a:t>
            </a:r>
          </a:p>
        </p:txBody>
      </p:sp>
      <p:sp>
        <p:nvSpPr>
          <p:cNvPr id="12" name="stat-rule">
            <a:extLst xmlns:a="http://schemas.openxmlformats.org/drawingml/2006/main">
              <a:ext uri="{FF2B5EF4-FFF2-40B4-BE49-F238E27FC236}">
                <a16:creationId xmlns:a16="http://schemas.microsoft.com/office/drawing/2014/main" id="{FF55DC25-B55A-4985-8DC3-F4B5F75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292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3" name="stat-label">
            <a:extLst xmlns:a="http://schemas.openxmlformats.org/drawingml/2006/main">
              <a:ext uri="{FF2B5EF4-FFF2-40B4-BE49-F238E27FC236}">
                <a16:creationId xmlns:a16="http://schemas.microsoft.com/office/drawing/2014/main" id="{D5A8AB5E-2214-4095-9801-825FC46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54355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optional implementation after audit; never required for funding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116121E-68BE-4CC2-BC50-F39CE01D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24850"/>
            <a:ext cx="10077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1C"/>
                </a:solidFill>
              </a:defRPr>
            </a:pPr>
            <a:r>
              <a:rPr sz="2250">
                <a:solidFill>
                  <a:srgbClr val="17211C"/>
                </a:solidFill>
              </a:rPr>
              <a:t>Investor value: more qualified conversations, more data about SMB pain, and a non-capital-intensive revenue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9ECFF-3C60-4DD5-94CB-10C7D59E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62B5A-FF8D-4DD1-888F-7C6428F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9277350"/>
            <a:ext cx="93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Investor pitch · 9</a:t>
            </a:r>
          </a:p>
        </p:txBody>
      </p:sp>
    </p:spTree>
    <p:extLst>
      <p:ext uri="{BB962C8B-B14F-4D97-AF65-F5344CB8AC3E}">
        <p14:creationId xmlns:p14="http://schemas.microsoft.com/office/powerpoint/2010/main" val="9254729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5FB24C-4FC1-4E72-9BD6-84E710C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89373AE-FB00-44A0-8327-1510E59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INVESTOR ASK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BAFD1E-36FA-488C-8DD6-A7E9386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Proposed pilot capital: $250k-$500k.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C12D566-BD38-4B0F-9BBF-A3624A0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76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This is an editable discussion range for investors; the final structure should be set by counsel and documented in the operating model.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E3B199BB-41E5-46B4-8F65-E13D326D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7562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4A32"/>
                </a:solidFill>
              </a:defRPr>
            </a:pPr>
            <a:r>
              <a:rPr sz="5700" b="1">
                <a:solidFill>
                  <a:srgbClr val="0F4A32"/>
                </a:solidFill>
              </a:rPr>
              <a:t>$250k-$500k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D5E4FDD0-E8E4-4A97-B05C-E61AF54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8AB7710F-F789-4A76-BB92-8B7FE0FB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pilot capital range for investor conversations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02E404E-EABA-4FDA-BC41-269BDAD7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68389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1C"/>
                </a:solidFill>
              </a:defRPr>
            </a:pPr>
            <a:r>
              <a:rPr sz="2100">
                <a:solidFill>
                  <a:srgbClr val="17211C"/>
                </a:solidFill>
              </a:rPr>
              <a:t>Target: fund a controlled cohort of first-position NJ deals, measure repayment/reconciliation behavior, and establish underwriting feedback loops before expanding.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F80CD-FC16-4D66-866E-A26A8A9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8343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C"/>
                </a:solidFill>
              </a:defRPr>
            </a:pPr>
            <a:r>
              <a:rPr sz="2550" b="1">
                <a:solidFill>
                  <a:srgbClr val="17211C"/>
                </a:solidFill>
              </a:rPr>
              <a:t>Use of funds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AC0C988-0B9C-4BF0-A283-46DA15BE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BF3E8-B69F-4AF4-9A5B-5693396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578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70% dedicated funding pool and liquidity reserve.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0D18849C-7E25-497F-976B-669C3C3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6AB14-4763-4791-8B4B-29FAF89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7150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10% legal, compliance, agreements, disclosures, and servicing process.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E4FCA005-FF5B-4010-936B-6AFD1CC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E35B-A38D-4A2C-BC99-8248ACAB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722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10% acquisition: SEO content, landing pages, and small Meta tests.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7A1EB395-D3BD-4D05-BD2C-E75E1FE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61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A3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E25D1-7DB5-4F9A-A255-384C77B3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610350"/>
            <a:ext cx="811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1C"/>
                </a:solidFill>
              </a:defRPr>
            </a:pPr>
            <a:r>
              <a:rPr sz="1950">
                <a:solidFill>
                  <a:srgbClr val="17211C"/>
                </a:solidFill>
              </a:rPr>
              <a:t>10% operations: CRM, secure document workflow, reporting, and portfolio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9CC32-62AE-45B4-960A-7DB0CB7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8A9E8-464E-46B9-9FD0-76D5689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9429750"/>
            <a:ext cx="3333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Investment terms are placeholders until reviewed by counsel</a:t>
            </a:r>
          </a:p>
        </p:txBody>
      </p:sp>
    </p:spTree>
    <p:extLst>
      <p:ext uri="{BB962C8B-B14F-4D97-AF65-F5344CB8AC3E}">
        <p14:creationId xmlns:p14="http://schemas.microsoft.com/office/powerpoint/2010/main" val="8776307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2685B11-C9AC-4A47-ABCB-9883CC2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F20B21C-5202-46FB-89AD-6E79953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90-DAY PLAN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DAF0DE-7FAC-433D-B852-90D95952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Move from built launch kit to measured portfolio.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6B4E7F8-84F9-402D-8087-D0B2572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62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The first investor update should be about qualified lead flow, underwriting signal, and repayment behavior—not vanity traffic.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93A77-69C7-45E2-B1BF-2D90FC1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8A3C"/>
                </a:solidFill>
              </a:defRPr>
            </a:pPr>
            <a:r>
              <a:rPr sz="1350" b="1">
                <a:solidFill>
                  <a:srgbClr val="B38A3C"/>
                </a:solidFill>
              </a:rPr>
              <a:t>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B548-BDB4-4B0A-ADA7-AD17A71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8A3C"/>
                </a:solidFill>
              </a:defRPr>
            </a:pPr>
            <a:r>
              <a:rPr sz="1350" b="1">
                <a:solidFill>
                  <a:srgbClr val="B38A3C"/>
                </a:solidFill>
              </a:rPr>
              <a:t>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1D012-748C-4240-92F9-F260DC0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241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8A3C"/>
                </a:solidFill>
              </a:defRPr>
            </a:pPr>
            <a:r>
              <a:rPr sz="1350" b="1">
                <a:solidFill>
                  <a:srgbClr val="B38A3C"/>
                </a:solidFill>
              </a:rPr>
              <a:t>Investor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D1EB0-FD7B-4906-BA9C-E85A736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1C"/>
                </a:solidFill>
              </a:defRPr>
            </a:pPr>
            <a:r>
              <a:rPr sz="1875" b="1">
                <a:solidFill>
                  <a:srgbClr val="17211C"/>
                </a:solidFill>
              </a:rPr>
              <a:t>Days 1-30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1BA4F-B6A2-46DA-85B8-44761F1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6362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Counsel review, CRM wiring, final forms, first SEO pages indexed.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FECA3-80F7-462F-8633-FC3FE2D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695700"/>
            <a:ext cx="531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5F"/>
                </a:solidFill>
              </a:defRPr>
            </a:pPr>
            <a:r>
              <a:rPr sz="1875">
                <a:solidFill>
                  <a:srgbClr val="59645F"/>
                </a:solidFill>
              </a:rPr>
              <a:t>Launch readiness and compliance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E571C-5DC4-4DBB-8F22-D26A8ABB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7"/>
          </a:solidFill>
          <a:ln xmlns:a="http://schemas.openxmlformats.org/drawingml/2006/main" w="0">
            <a:solidFill>
              <a:srgbClr val="D9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477BC-2B62-4FBF-8431-8AB0455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1C"/>
                </a:solidFill>
              </a:defRPr>
            </a:pPr>
            <a:r>
              <a:rPr sz="1875" b="1">
                <a:solidFill>
                  <a:srgbClr val="17211C"/>
                </a:solidFill>
              </a:rPr>
              <a:t>Days 31-60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9A17B-3525-4F9A-8E0F-E84B1BF3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72150"/>
            <a:ext cx="6362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Meta test, checklist lead magnet, first calls, first document reviews.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B9087-7100-43AA-AA45-355EA7C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772150"/>
            <a:ext cx="531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5F"/>
                </a:solidFill>
              </a:defRPr>
            </a:pPr>
            <a:r>
              <a:rPr sz="1875">
                <a:solidFill>
                  <a:srgbClr val="59645F"/>
                </a:solidFill>
              </a:rPr>
              <a:t>Qualified lead rate and underwriting funnel loss.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825C9-DD5D-4BFC-B72C-2629F5F9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056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7"/>
          </a:solidFill>
          <a:ln xmlns:a="http://schemas.openxmlformats.org/drawingml/2006/main" w="0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D365C-8F36-41AC-AD88-1BB3A54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676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1C"/>
                </a:solidFill>
              </a:defRPr>
            </a:pPr>
            <a:r>
              <a:rPr sz="1875" b="1">
                <a:solidFill>
                  <a:srgbClr val="17211C"/>
                </a:solidFill>
              </a:rPr>
              <a:t>Days 61-90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99A03-A06E-4448-A462-662DE5F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867650"/>
            <a:ext cx="6362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1C"/>
                </a:solidFill>
              </a:defRPr>
            </a:pPr>
            <a:r>
              <a:rPr sz="1875">
                <a:solidFill>
                  <a:srgbClr val="17211C"/>
                </a:solidFill>
              </a:rPr>
              <a:t>First controlled deals, weekly portfolio review, reconciliation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B7561-CD51-4927-B429-F67A6B4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867650"/>
            <a:ext cx="5314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5F"/>
                </a:solidFill>
              </a:defRPr>
            </a:pPr>
            <a:r>
              <a:rPr sz="1875">
                <a:solidFill>
                  <a:srgbClr val="59645F"/>
                </a:solidFill>
              </a:rPr>
              <a:t>Repayment behavior, exception rate, and capital recycling.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47784-EBA9-4167-88BA-01F3590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91854-A543-45A9-9F18-5B0591D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92773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Investor pitch · 11</a:t>
            </a:r>
          </a:p>
        </p:txBody>
      </p:sp>
    </p:spTree>
    <p:extLst>
      <p:ext uri="{BB962C8B-B14F-4D97-AF65-F5344CB8AC3E}">
        <p14:creationId xmlns:p14="http://schemas.microsoft.com/office/powerpoint/2010/main" val="5756360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75F8682-32F6-4C7C-9FFF-E8BE0EA1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9DAA071-D25C-4A7D-BE5D-B534F6F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8A3C"/>
                </a:solidFill>
              </a:defRPr>
            </a:pPr>
            <a:r>
              <a:rPr sz="1275" b="1">
                <a:solidFill>
                  <a:srgbClr val="B38A3C"/>
                </a:solidFill>
              </a:rPr>
              <a:t>WHY FORZA CAN WIN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B5A945-A04E-4903-AC93-7C62CBB0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645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C"/>
                </a:solidFill>
              </a:defRPr>
            </a:pPr>
            <a:r>
              <a:rPr sz="4350" b="1">
                <a:solidFill>
                  <a:srgbClr val="17211C"/>
                </a:solidFill>
              </a:rPr>
              <a:t>The wedge is focus: local, small, controlled, and disclosure-ready.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7410B6B-0CFF-469A-A91B-4A6648FF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1772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45F"/>
                </a:solidFill>
              </a:defRPr>
            </a:pPr>
            <a:r>
              <a:rPr sz="1950">
                <a:solidFill>
                  <a:srgbClr val="59645F"/>
                </a:solidFill>
              </a:rPr>
              <a:t>Investors are not being asked to fund a volume machine. They are being asked to back a measured capital product with a built funnel and explicit risk controls.</a:t>
            </a:r>
          </a:p>
        </p:txBody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5BBBE446-A837-4F78-9B9F-93EC8FA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7181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F4A32"/>
                </a:solidFill>
              </a:defRPr>
            </a:pPr>
            <a:r>
              <a:rPr sz="4950" b="1">
                <a:solidFill>
                  <a:srgbClr val="0F4A32"/>
                </a:solidFill>
              </a:rPr>
              <a:t>NJ-only</a:t>
            </a:r>
          </a:p>
        </p:txBody>
      </p:sp>
      <p:sp>
        <p:nvSpPr>
          <p:cNvPr id="6" name="stat-rule">
            <a:extLst xmlns:a="http://schemas.openxmlformats.org/drawingml/2006/main">
              <a:ext uri="{FF2B5EF4-FFF2-40B4-BE49-F238E27FC236}">
                <a16:creationId xmlns:a16="http://schemas.microsoft.com/office/drawing/2014/main" id="{752C62DA-A4F1-488C-9403-4C7FAF73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7" name="stat-label">
            <a:extLst xmlns:a="http://schemas.openxmlformats.org/drawingml/2006/main">
              <a:ext uri="{FF2B5EF4-FFF2-40B4-BE49-F238E27FC236}">
                <a16:creationId xmlns:a16="http://schemas.microsoft.com/office/drawing/2014/main" id="{D1B7AB90-0037-4B2E-A59E-5A3E45E6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tight geography</a:t>
            </a:r>
          </a:p>
        </p:txBody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A5394D23-5EFC-47A9-B810-D1E4A8C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7181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7D5842"/>
                </a:solidFill>
              </a:defRPr>
            </a:pPr>
            <a:r>
              <a:rPr sz="4950" b="1">
                <a:solidFill>
                  <a:srgbClr val="7D5842"/>
                </a:solidFill>
              </a:rPr>
              <a:t>Manual-first</a:t>
            </a:r>
          </a:p>
        </p:txBody>
      </p:sp>
      <p:sp>
        <p:nvSpPr>
          <p:cNvPr id="9" name="stat-rule">
            <a:extLst xmlns:a="http://schemas.openxmlformats.org/drawingml/2006/main">
              <a:ext uri="{FF2B5EF4-FFF2-40B4-BE49-F238E27FC236}">
                <a16:creationId xmlns:a16="http://schemas.microsoft.com/office/drawing/2014/main" id="{DA40B592-4232-4FB6-BD55-5BC5FE5B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38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0" name="stat-label">
            <a:extLst xmlns:a="http://schemas.openxmlformats.org/drawingml/2006/main">
              <a:ext uri="{FF2B5EF4-FFF2-40B4-BE49-F238E27FC236}">
                <a16:creationId xmlns:a16="http://schemas.microsoft.com/office/drawing/2014/main" id="{C1C0B9CD-C5EF-47F8-8952-4DE1272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underwriting posture</a:t>
            </a:r>
          </a:p>
        </p:txBody>
      </p:sp>
      <p:sp>
        <p:nvSpPr>
          <p:cNvPr id="11" name="stat-value">
            <a:extLst xmlns:a="http://schemas.openxmlformats.org/drawingml/2006/main">
              <a:ext uri="{FF2B5EF4-FFF2-40B4-BE49-F238E27FC236}">
                <a16:creationId xmlns:a16="http://schemas.microsoft.com/office/drawing/2014/main" id="{A9BFC4DF-D75D-41E9-9C74-CBCB04C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10400"/>
            <a:ext cx="7181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B38A3C"/>
                </a:solidFill>
              </a:defRPr>
            </a:pPr>
            <a:r>
              <a:rPr sz="4950" b="1">
                <a:solidFill>
                  <a:srgbClr val="B38A3C"/>
                </a:solidFill>
              </a:rPr>
              <a:t>Built assets</a:t>
            </a:r>
          </a:p>
        </p:txBody>
      </p:sp>
      <p:sp>
        <p:nvSpPr>
          <p:cNvPr id="12" name="stat-rule">
            <a:extLst xmlns:a="http://schemas.openxmlformats.org/drawingml/2006/main">
              <a:ext uri="{FF2B5EF4-FFF2-40B4-BE49-F238E27FC236}">
                <a16:creationId xmlns:a16="http://schemas.microsoft.com/office/drawing/2014/main" id="{DAA925B2-0E87-4773-BFC1-A02EAA2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C"/>
          </a:solidFill>
          <a:ln xmlns:a="http://schemas.openxmlformats.org/drawingml/2006/main" w="0">
            <a:solidFill>
              <a:srgbClr val="B38A3C"/>
            </a:solidFill>
            <a:prstDash val="solid"/>
          </a:ln>
        </p:spPr>
      </p:sp>
      <p:sp>
        <p:nvSpPr>
          <p:cNvPr id="13" name="stat-label">
            <a:extLst xmlns:a="http://schemas.openxmlformats.org/drawingml/2006/main">
              <a:ext uri="{FF2B5EF4-FFF2-40B4-BE49-F238E27FC236}">
                <a16:creationId xmlns:a16="http://schemas.microsoft.com/office/drawing/2014/main" id="{EE131949-8EAC-4765-A64D-893A9DC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629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45F"/>
                </a:solidFill>
              </a:defRPr>
            </a:pPr>
            <a:r>
              <a:rPr sz="1800" b="0">
                <a:solidFill>
                  <a:srgbClr val="59645F"/>
                </a:solidFill>
              </a:rPr>
              <a:t>site, content, CRM plan, Deal Desk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A1BB4-2BBA-4BB3-B6A1-B4471AA0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48250"/>
            <a:ext cx="876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1C"/>
                </a:solidFill>
              </a:defRPr>
            </a:pPr>
            <a:r>
              <a:rPr sz="2400" b="1">
                <a:solidFill>
                  <a:srgbClr val="17211C"/>
                </a:solidFill>
              </a:rPr>
              <a:t>Source anchors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AC3C2356-D241-48AD-8E6F-8BF5763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0"/>
            <a:ext cx="876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SBA Office of Advocacy, 2024 Small Business Profile: New Jersey.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40A4018F-0541-4D62-8B0E-CA77DF31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91200"/>
            <a:ext cx="876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Federal Reserve Banks, 2025 Small Business Credit Survey: Report on Employer Firms.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A8BD51CB-B05E-419E-B9CB-7D1BBEEC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57900"/>
            <a:ext cx="876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New Jersey A4580/S1760 commercial financing disclosure proposals, 2026-2027 session.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689C1A64-7904-4FA9-AD88-7492525F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24600"/>
            <a:ext cx="876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37F"/>
                </a:solidFill>
              </a:defRPr>
            </a:pPr>
            <a:r>
              <a:rPr sz="975">
                <a:solidFill>
                  <a:srgbClr val="7A837F"/>
                </a:solidFill>
              </a:rPr>
              <a:t>FORZA launch kit: underwriting playbook, lead-generation engine, portfolio allocation model, Deal Desk.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7226C2A3-AF95-4432-ACDB-7614ADDD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72250"/>
            <a:ext cx="7810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D5842"/>
                </a:solidFill>
              </a:defRPr>
            </a:pPr>
            <a:r>
              <a:rPr sz="1725">
                <a:solidFill>
                  <a:srgbClr val="7D5842"/>
                </a:solidFill>
              </a:rPr>
              <a:t>Confidential discussion draft. Investment terms, securities compliance, and commercial-financing disclosures should be reviewed by counsel before closing any capital.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9CB42-D71F-4A3A-9698-415AFDC8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45F"/>
                </a:solidFill>
              </a:defRPr>
            </a:pPr>
            <a:r>
              <a:rPr sz="975" b="1">
                <a:solidFill>
                  <a:srgbClr val="59645F"/>
                </a:solidFill>
              </a:rPr>
              <a:t>FORZA CAPITAL PARTNERS LLC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898E3-7A50-49F1-AB73-19F106B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27735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Confidential ·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1782399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2026-04-28T20:49:52.0430000Z</dcterms:created>
  <dcterms:modified xsi:type="dcterms:W3CDTF">2026-04-28T20:49:52.0430000Z</dcterms:modified>
</coreProperties>
</file>